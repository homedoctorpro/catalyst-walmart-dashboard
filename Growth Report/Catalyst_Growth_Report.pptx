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6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28600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Futura"/>
              </a:rPr>
              <a:t>Catalyst Pet — Growth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3832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CFE6D7"/>
                </a:solidFill>
                <a:latin typeface="Futura"/>
              </a:rPr>
              <a:t>Subscriber growth by year  •  Walmart 15 lb Original weekly trajectory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0350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FC7AE"/>
                </a:solidFill>
                <a:latin typeface="Futura"/>
              </a:rPr>
              <a:t>Generated July 31,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C2B22"/>
                </a:solidFill>
                <a:latin typeface="Futura"/>
              </a:rPr>
              <a:t>Subscriber Growth by Year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6B7D72"/>
                </a:solidFill>
                <a:latin typeface="Futura"/>
              </a:rPr>
              <a:t>Active Shopify DTC subscriptions at year-end (excludes ~7,000 Chewy subscribers)</a:t>
            </a:r>
          </a:p>
        </p:txBody>
      </p:sp>
      <p:pic>
        <p:nvPicPr>
          <p:cNvPr id="4" name="Picture 3" descr="rpt_sub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45920"/>
            <a:ext cx="6997959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98079" y="2194560"/>
            <a:ext cx="4206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06633"/>
                </a:solidFill>
                <a:latin typeface="Futura"/>
              </a:rPr>
              <a:t>1,207 → 31,645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79" y="2926080"/>
            <a:ext cx="4206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C2B22"/>
                </a:solidFill>
                <a:latin typeface="Futura"/>
              </a:rPr>
              <a:t>2022–2025 year-end
~197% CAGR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C2B22"/>
                </a:solidFill>
                <a:latin typeface="Futura"/>
              </a:rPr>
              <a:t>Walmart — 15 lb Original: Linear Weekly Growth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6B7D72"/>
                </a:solidFill>
                <a:latin typeface="Futura"/>
              </a:rPr>
              <a:t>In-store units and U/S/W (units per store per week), FY26 weekly with linear trend</a:t>
            </a:r>
          </a:p>
        </p:txBody>
      </p:sp>
      <p:pic>
        <p:nvPicPr>
          <p:cNvPr id="4" name="Picture 3" descr="rpt_wm_un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691640"/>
            <a:ext cx="6298163" cy="4114800"/>
          </a:xfrm>
          <a:prstGeom prst="rect">
            <a:avLst/>
          </a:prstGeom>
        </p:spPr>
      </p:pic>
      <p:pic>
        <p:nvPicPr>
          <p:cNvPr id="5" name="Picture 4" descr="rpt_wm_us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691640"/>
            <a:ext cx="6298163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989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6633"/>
                </a:solidFill>
                <a:latin typeface="Futura"/>
              </a:rPr>
              <a:t>Linear weekly growth:  +190 units/week   •   +0.053 U/S/W per week   (Wk 1: 835 u / 0.238  →  Wk 24: 6,801 u / 1.893)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