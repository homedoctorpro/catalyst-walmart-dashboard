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Futura"/>
              </a:rPr>
              <a:t>Catalyst Pet — Growth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FE6D7"/>
                </a:solidFill>
                <a:latin typeface="Futura"/>
              </a:rPr>
              <a:t>Subscriber growth by year  •  Walmart 15 lb Original weekly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C7AE"/>
                </a:solidFill>
                <a:latin typeface="Futura"/>
              </a:rPr>
              <a:t>Generated September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B22"/>
                </a:solidFill>
                <a:latin typeface="Futura"/>
              </a:rPr>
              <a:t>Subscriber Growth by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D72"/>
                </a:solidFill>
                <a:latin typeface="Futura"/>
              </a:rPr>
              <a:t>Active Shopify DTC subscriptions at year-end (excludes ~7,000 Chewy subscribers)</a:t>
            </a:r>
          </a:p>
        </p:txBody>
      </p:sp>
      <p:pic>
        <p:nvPicPr>
          <p:cNvPr id="4" name="Picture 3" descr="rpt_s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9795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21945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6633"/>
                </a:solidFill>
                <a:latin typeface="Futura"/>
              </a:rPr>
              <a:t>1,207 → 31,645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9260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Futura"/>
              </a:rPr>
              <a:t>2022–2025 year-end
~197% CAGR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B22"/>
                </a:solidFill>
                <a:latin typeface="Futura"/>
              </a:rPr>
              <a:t>Walmart — 15 lb Original: Linear Weekly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D72"/>
                </a:solidFill>
                <a:latin typeface="Futura"/>
              </a:rPr>
              <a:t>In-store units and U/S/W (units per store per week), FY26 weekly with linear trend</a:t>
            </a:r>
          </a:p>
        </p:txBody>
      </p:sp>
      <p:pic>
        <p:nvPicPr>
          <p:cNvPr id="4" name="Picture 3" descr="rpt_wm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6298163" cy="4114800"/>
          </a:xfrm>
          <a:prstGeom prst="rect">
            <a:avLst/>
          </a:prstGeom>
        </p:spPr>
      </p:pic>
      <p:pic>
        <p:nvPicPr>
          <p:cNvPr id="5" name="Picture 4" descr="rpt_wm_u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630459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33"/>
                </a:solidFill>
                <a:latin typeface="Futura"/>
              </a:rPr>
              <a:t>Linear weekly growth:  +256 units/week   •   +0.070 U/S/W per week   (Wk 1: 835 u / 0.238  →  Wk 33: 10,382 u / 2.878)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